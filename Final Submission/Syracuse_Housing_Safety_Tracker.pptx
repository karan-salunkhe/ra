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Monthly Violation Filings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Violations Filed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980</c:v>
                </c:pt>
                <c:pt idx="1">
                  <c:v>1040</c:v>
                </c:pt>
                <c:pt idx="2">
                  <c:v>860</c:v>
                </c:pt>
                <c:pt idx="3">
                  <c:v>710</c:v>
                </c:pt>
                <c:pt idx="4">
                  <c:v>620</c:v>
                </c:pt>
                <c:pt idx="5">
                  <c:v>570</c:v>
                </c:pt>
                <c:pt idx="6">
                  <c:v>540</c:v>
                </c:pt>
                <c:pt idx="7">
                  <c:v>560</c:v>
                </c:pt>
                <c:pt idx="8">
                  <c:v>610</c:v>
                </c:pt>
                <c:pt idx="9">
                  <c:v>740</c:v>
                </c:pt>
                <c:pt idx="10">
                  <c:v>890</c:v>
                </c:pt>
                <c:pt idx="11">
                  <c:v>1010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Lag Distribution (Days to Permit)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Properties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0–180</c:v>
                  </c:pt>
                  <c:pt idx="1">
                    <c:v>181–365</c:v>
                  </c:pt>
                  <c:pt idx="2">
                    <c:v>366–540</c:v>
                  </c:pt>
                  <c:pt idx="3">
                    <c:v>541–730</c:v>
                  </c:pt>
                  <c:pt idx="4">
                    <c:v>731–895</c:v>
                  </c:pt>
                  <c:pt idx="5">
                    <c:v>896–1095</c:v>
                  </c:pt>
                  <c:pt idx="6">
                    <c:v>1096+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52</c:v>
                </c:pt>
                <c:pt idx="2">
                  <c:v>41</c:v>
                </c:pt>
                <c:pt idx="3">
                  <c:v>63</c:v>
                </c:pt>
                <c:pt idx="4">
                  <c:v>49</c:v>
                </c:pt>
                <c:pt idx="5">
                  <c:v>34</c:v>
                </c:pt>
                <c:pt idx="6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Violations per 1,000 Residential Parcels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Violations per 1,000 Homes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Skunk City</c:v>
                  </c:pt>
                  <c:pt idx="1">
                    <c:v>Northside</c:v>
                  </c:pt>
                  <c:pt idx="2">
                    <c:v>Near Westside</c:v>
                  </c:pt>
                  <c:pt idx="3">
                    <c:v>Southside</c:v>
                  </c:pt>
                  <c:pt idx="4">
                    <c:v>Eastside</c:v>
                  </c:pt>
                  <c:pt idx="5">
                    <c:v>Wash. Square</c:v>
                  </c:pt>
                  <c:pt idx="6">
                    <c:v>Westcott</c:v>
                  </c:pt>
                  <c:pt idx="7">
                    <c:v>Eastwood</c:v>
                  </c:pt>
                  <c:pt idx="8">
                    <c:v>Brighton</c:v>
                  </c:pt>
                  <c:pt idx="9">
                    <c:v>Strathmore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52.1</c:v>
                </c:pt>
                <c:pt idx="1">
                  <c:v>45.2</c:v>
                </c:pt>
                <c:pt idx="2">
                  <c:v>38.7</c:v>
                </c:pt>
                <c:pt idx="3">
                  <c:v>33.1</c:v>
                </c:pt>
                <c:pt idx="4">
                  <c:v>28.4</c:v>
                </c:pt>
                <c:pt idx="5">
                  <c:v>24.8</c:v>
                </c:pt>
                <c:pt idx="6">
                  <c:v>19.6</c:v>
                </c:pt>
                <c:pt idx="7">
                  <c:v>17.2</c:v>
                </c:pt>
                <c:pt idx="8">
                  <c:v>14.3</c:v>
                </c:pt>
                <c:pt idx="9">
                  <c:v>11.9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Violation Type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bubble3D val="0"/>
            <c:spPr>
              <a:solidFill>
                <a:srgbClr val="93C5FD"/>
              </a:solidFill>
              <a:effectLst/>
            </c:spPr>
          </c:dPt>
          <c:dPt>
            <c:idx val="5"/>
            <c:bubble3D val="0"/>
            <c:spPr>
              <a:solidFill>
                <a:srgbClr val="BFDBFE"/>
              </a:solidFill>
              <a:effectLst/>
            </c:spPr>
          </c:dPt>
          <c:dPt>
            <c:idx val="6"/>
            <c:bubble3D val="0"/>
            <c:spPr>
              <a:solidFill>
                <a:srgbClr val="DBEAF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Structural</c:v>
                </c:pt>
                <c:pt idx="1">
                  <c:v>Heating/HVAC</c:v>
                </c:pt>
                <c:pt idx="2">
                  <c:v>Electrical</c:v>
                </c:pt>
                <c:pt idx="3">
                  <c:v>Interior Maint.</c:v>
                </c:pt>
                <c:pt idx="4">
                  <c:v>Exterior/Facade</c:v>
                </c:pt>
                <c:pt idx="5">
                  <c:v>Plumbing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1820</c:v>
                </c:pt>
                <c:pt idx="1">
                  <c:v>1540</c:v>
                </c:pt>
                <c:pt idx="2">
                  <c:v>1190</c:v>
                </c:pt>
                <c:pt idx="3">
                  <c:v>1080</c:v>
                </c:pt>
                <c:pt idx="4">
                  <c:v>870</c:v>
                </c:pt>
                <c:pt idx="5">
                  <c:v>760</c:v>
                </c:pt>
                <c:pt idx="6">
                  <c:v>400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Violation Closure Method (City-wide)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Verified
Physical Repair</c:v>
                  </c:pt>
                  <c:pt idx="1">
                    <c:v>Admin /
Age-Out Closure</c:v>
                  </c:pt>
                  <c:pt idx="2">
                    <c:v>Permit-Based
Closure</c:v>
                  </c:pt>
                  <c:pt idx="3">
                    <c:v>Demolished</c:v>
                  </c:pt>
                  <c:pt idx="4">
                    <c:v>Contested /
In Appeal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3820</c:v>
                </c:pt>
                <c:pt idx="1">
                  <c:v>2140</c:v>
                </c:pt>
                <c:pt idx="2">
                  <c:v>980</c:v>
                </c:pt>
                <c:pt idx="3">
                  <c:v>310</c:v>
                </c:pt>
                <c:pt idx="4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33415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With Repair Permits</c:v>
                </c:pt>
                <c:pt idx="1">
                  <c:v>Administrative Limbo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41.2</c:v>
                </c:pt>
                <c:pt idx="1">
                  <c:v>58.8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 w="12700" cap="flat">
      <a:solidFill>
        <a:srgbClr val="0D1B2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Syracuse Housing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Tracker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"Remediation Gap" in Municipal Enforcement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2926080" cy="411480"/>
          </a:xfrm>
          <a:prstGeom prst="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520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Karan C. Salunkhe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April 2026 · Syracuse University iSchool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914400"/>
            <a:ext cx="2286000" cy="3200400"/>
          </a:xfrm>
          <a:prstGeom prst="rect">
            <a:avLst/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Remediation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Citywide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3017520"/>
            <a:ext cx="1737360" cy="82296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017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Challenge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895-Day Gap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Syracuse identifies thousands of "Unfit" properties annually. But identifying a safety hazard is not the same as fixing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Remediation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systemic delay between a city's "Unfit" designation and the actual issuance of a building permit to begin repairs.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1920240" cy="1645920"/>
          </a:xfrm>
          <a:prstGeom prst="rect">
            <a:avLst/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14400"/>
            <a:ext cx="19202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137,663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Violations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914400"/>
            <a:ext cx="1920240" cy="1645920"/>
          </a:xfrm>
          <a:prstGeom prst="rect">
            <a:avLst/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914400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Unfit Designations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1920240" cy="1645920"/>
          </a:xfrm>
          <a:prstGeom prst="rect">
            <a:avLst/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34640"/>
            <a:ext cx="19202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17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4632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Lag (Days)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2834640"/>
            <a:ext cx="1920240" cy="1645920"/>
          </a:xfrm>
          <a:prstGeom prst="rect">
            <a:avLst/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2834640"/>
            <a:ext cx="19202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0175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4088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Backlog Rate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Local Health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25603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 Stagnation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0" y="1600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one in five violations cited by inspectors remains in an "Open" state for over two years. This backlog directly correlates with neighborhood disinvestment and decreased property values in high-risk zones.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74320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 Public Health Risk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heating failures in winter months directly cause respiratory illness in vulnerable residents.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74320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74320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🏚  Property Devaluation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2461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violations in 13204 and 13205 suppress surrounding property values by an estimated 8–12%.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74320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Legal Displacement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2461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Vacate orders displace families without guaranteed relocation support, concentrating instability.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9202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155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137k+ records from Code Enforcement, Unfit listings, and Building Permits into a unified pipeline.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97280"/>
            <a:ext cx="19202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1155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219456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 Python-based fuzzy matching engine with regex suffix mapping to bridge disparate municipal address formats.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19202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1155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19456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density correction, median vs. mean analysis, seasonal decomposition, and IQR variance profiling.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09728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097280"/>
            <a:ext cx="19202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1155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219456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Gemini 2.5 Flash with strict JSON grounding to generate accessible civic health narratives.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Data Sources: Syracuse Open Data Portal (CKAN)  ·  137,663 violation records  ·  264 unfit properties  ·  47,902 building permits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Pipeline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188720" cy="11887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24688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CKAN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719072"/>
            <a:ext cx="256032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6459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188720"/>
            <a:ext cx="1188720" cy="11887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24688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suffix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+ SBL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1719072"/>
            <a:ext cx="256032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16459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188720"/>
            <a:ext cx="1188720" cy="11887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54680" y="24688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 + zip key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0" y="1719072"/>
            <a:ext cx="256032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6459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188720"/>
            <a:ext cx="1188720" cy="11887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6344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7720" y="24688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calc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norm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0" y="1719072"/>
            <a:ext cx="256032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16459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1188720"/>
            <a:ext cx="1188720" cy="118872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2648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24688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KPI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0" y="1719072"/>
            <a:ext cx="256032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16459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89520" y="1188720"/>
            <a:ext cx="1188720" cy="11887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0" y="1234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58952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43800" y="24688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169164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743200"/>
              </a:tblGrid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Data Syracuse (CSV)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Normalization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Rate (19.5%)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Unfit Properties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Regex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 Gap (895 Days)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Permits 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KPI Serialization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Seasonal Violation Spike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943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18872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0" y="1188720"/>
            <a:ext cx="64008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280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72084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spike vs annual avg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246888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46888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560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72084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months above average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3749040"/>
            <a:ext cx="22860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3749040"/>
            <a:ext cx="64008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38404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720840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average (baseline)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Dec–Feb heating failures and freeze-thaw structural damage drive a 22–44% winter filing spike. All trend analyses use full calendar years to neutralize seasonal bias.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Remediation Lag Distribution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097280"/>
            <a:ext cx="22860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0" y="1143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675120" y="14447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~350 days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2057400"/>
            <a:ext cx="22860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75120" y="24048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 days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0" y="3017520"/>
            <a:ext cx="22860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7512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675120" y="33649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1,340 days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0" y="3977640"/>
            <a:ext cx="22860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75120" y="4023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75120" y="43251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~1,050 days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(1,340) exceeds median (895) by 50% — confirming right-skew from "Zombie Properties" in tax foreclosure. Median is the analytically appropriate central measure.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Neighborhood Density Comparison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078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Legend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80760" y="1481328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6355080" y="1463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(45+)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80760" y="1783080"/>
            <a:ext cx="201168" cy="2011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6355080" y="17647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(30–44)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80760" y="2084832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20665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(20–29)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80760" y="2386584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23682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(&lt;20)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3017520"/>
            <a:ext cx="2834640" cy="1920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34747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Skunk City's 52.1 density exceeds Northside (45.2) despite having 73% fewer total violations. Density normalization reveals hidden structural risk in smaller neighborhoods.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Violation Type Breakdown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097280"/>
          <a:ext cx="3749040" cy="3657600"/>
        </p:xfrm>
        <a:graphic>
          <a:graphicData uri="http://schemas.openxmlformats.org/drawingml/2006/table">
            <a:tbl>
              <a:tblPr/>
              <a:tblGrid>
                <a:gridCol w="2194560"/>
                <a:gridCol w="777240"/>
                <a:gridCol w="777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(Roof/Foundation)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Heating / HVAC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Hazard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Exterior / Facade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Plumbing / Water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/ Miscellaneous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Status Attrition — How Cases Close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09728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09360" y="1097280"/>
            <a:ext cx="64008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143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086600" y="11338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Physical Repair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46520" y="1554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creditable closures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309360" y="210312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210312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2148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086600" y="213969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Age-Out Closure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46520" y="2560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Resolution Rate excluded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09360" y="310896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09360" y="3108960"/>
            <a:ext cx="6400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086600" y="314553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Permit-Based Closure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46520" y="3566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building permits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309360" y="4114800"/>
            <a:ext cx="25603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09360" y="4114800"/>
            <a:ext cx="64008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4160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086600" y="41513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Demolished / Contested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46520" y="45720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dataset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4663440"/>
            <a:ext cx="5669280" cy="34747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68172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Methodology Note: Resolution Rate in this dashboard excludes admin age-out closures (29%) to avoid overstating physical remediation outcomes.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Escalation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148840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554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-45720" y="2606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21408" y="2148840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554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2606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Re-inspection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50208" y="214884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554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606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79008" y="214884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554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606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"Unfit"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07808" y="214884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5544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1,307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2606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2128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+94 days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34640" y="22128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+93 days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3440" y="22128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+225 days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22128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+895 days ⚠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74720"/>
            <a:ext cx="1828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93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→ Unfit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9136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days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43251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period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0" y="347472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0" y="3474720"/>
            <a:ext cx="18288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2651760" y="3593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Unfit → Permit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51760" y="39136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 days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651760" y="43251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Remediation Gap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47472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474720"/>
            <a:ext cx="182880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593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Journey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9136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1,307 days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54880" y="43251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3.6 years avg.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347472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3474720"/>
            <a:ext cx="18288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0" y="35935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Benchmark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39136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days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58000" y="43251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Unfit → Permit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Analytics Tab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solidFill>
            <a:srgbClr val="1B2B3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332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0332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813816" y="1033272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1005840"/>
            <a:ext cx="1188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1887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Deep Dive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0" y="1005840"/>
            <a:ext cx="118872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325880"/>
            <a:ext cx="859536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" y="1371600"/>
            <a:ext cx="256032" cy="2194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3716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Northside 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1709928"/>
            <a:ext cx="12801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1764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2,859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" y="21122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Violations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764792" y="1709928"/>
            <a:ext cx="12801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64792" y="1764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64792" y="21122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Lag (days)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182112" y="1709928"/>
            <a:ext cx="12801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82112" y="1764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82112" y="21122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99432" y="1709928"/>
            <a:ext cx="12801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99432" y="1764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99432" y="21122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/1k homes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016752" y="1709928"/>
            <a:ext cx="12801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16752" y="1764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21122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Match Rate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434072" y="1709928"/>
            <a:ext cx="12801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34072" y="1764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420–1600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34072" y="21122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Range (days)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47472" y="2514600"/>
            <a:ext cx="5303520" cy="2240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" y="2514600"/>
            <a:ext cx="53035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vs. Permit Lifecycle  ─  12-Month Area Chart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06440" y="2514600"/>
            <a:ext cx="2834640" cy="1051560"/>
          </a:xfrm>
          <a:prstGeom prst="rect">
            <a:avLst/>
          </a:prstGeom>
          <a:solidFill>
            <a:srgbClr val="1B2B3A"/>
          </a:solidFill>
          <a:ln/>
        </p:spPr>
      </p:sp>
      <p:sp>
        <p:nvSpPr>
          <p:cNvPr id="39" name="Text 37"/>
          <p:cNvSpPr/>
          <p:nvPr/>
        </p:nvSpPr>
        <p:spPr>
          <a:xfrm>
            <a:off x="585216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Auditor · Gemini 2.5 Flash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52160" y="28529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"Northside shows a 940-day median remediation lag with a 0.42% permit match rate — flagged as High Stagnation Risk..."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06440" y="3657600"/>
            <a:ext cx="28346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85216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Distribution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9360" y="4005072"/>
            <a:ext cx="914400" cy="91440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0" y="4114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5833872" y="4005072"/>
            <a:ext cx="45720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4160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 Resolved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Safety Hotspots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00" cy="38404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Interactive SVG Map Engine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1371600"/>
            <a:ext cx="1645920" cy="82296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4173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Northside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45.2/1k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05840" cy="914400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48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West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38.7/1k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28800" y="2926080"/>
            <a:ext cx="1371600" cy="914400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9718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Southside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33.1/1k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474720" y="2286000"/>
            <a:ext cx="1097280" cy="73152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3317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Eastside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28.4/1k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280160" y="3108960"/>
            <a:ext cx="822960" cy="73152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154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Skunk City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52.1/1k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Geographic Stagnation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5087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clusters identified in zip codes 13204 and 13205. The Northside neighborhood contains the city's highest concentration of "Unfit" properties with zero repair activity.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Hotspot: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880360"/>
            <a:ext cx="2651760" cy="41148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880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Northside · 45.2/1k · Lag: 940 days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429000"/>
            <a:ext cx="265176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4655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Westside / Northside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3703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2,859 violations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4114800"/>
            <a:ext cx="265176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1513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151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Skunk City / Southside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4389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1,480 violations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Validation: Gemini Smart Auditor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5603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JSON Grounding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receives only a scoped KPI Context Object — never open internet access. Cannot extrapolate beyond provided data.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5603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78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Uncertainty Guardrails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62763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neighborhood match rate &lt; 30%, a "Low Confidence" flag is injected into the system prompt, forcing disclosure.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5603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78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Numerical Verifier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627632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regex scanner compares all AI-stated numbers against source data within ±1% tolerance. Mismatches trigger a Data Mismatch Error.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94760"/>
          <a:ext cx="8412480" cy="11430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1188720"/>
                <a:gridCol w="35661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(n=50)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Extraction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cited all JSON figures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 Calculation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/ 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rounding diff (±0.05%) — within tolerance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/ 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borderline cases at 4.9% match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Stigmatizing 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200/200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prohibited descriptors in 200 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"Permit Gap" Reality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005840"/>
            <a:ext cx="3474720" cy="1188720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394960" y="1051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39496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with repair permits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94960" y="2377440"/>
            <a:ext cx="3474720" cy="11887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6"/>
          <p:cNvSpPr/>
          <p:nvPr/>
        </p:nvSpPr>
        <p:spPr>
          <a:xfrm>
            <a:off x="5394960" y="2423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58.8%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39496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permitted repair activity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94960" y="3840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half of Unfit properties show official repair activity. The 39% unmatched properties represent either informal repairs, data gaps, or true stagnation — indistinguishable from public records alone.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691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Streamline Permitting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expedited permit track exclusively for properties with active "Unfit" designations. Target: reduce the 895-day gap to the 180-day city benchmark.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64008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234440"/>
            <a:ext cx="502920" cy="50292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Proactive Lead Risk Alerts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600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automated alert system cross-referencing property age, violation history, and demographic data to flag lead paint risk before escalation.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17520"/>
            <a:ext cx="64008" cy="1691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Resource Realignment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520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inspector field capacity and permit processing resources on zip codes 13204 and 13205, which account for the highest stagnation cluster density.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17520"/>
            <a:ext cx="64008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3154680"/>
            <a:ext cx="502920" cy="5029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Outcome-Based Reporting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3520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activity metrics (violations issued) with outcome metrics (time-to-resolution) in the city's annual housing accountability report.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8046720" cy="6400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688336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2688336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2194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2688336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194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268833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21945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Current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3520440"/>
            <a:ext cx="7315200" cy="13258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023360"/>
            <a:ext cx="6949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Predictive Attrition Modeling — ML model to flag properties at risk of Unfit escalation before designation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4279392"/>
            <a:ext cx="6949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Direct SYR permit system API integration — eliminate the 30–60 day public portal reporting lag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4535424"/>
            <a:ext cx="6949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Resident alert portal — notify tenants when properties they occupy receive enforcement actions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0" y="2651760"/>
            <a:ext cx="4023360" cy="1645920"/>
          </a:xfrm>
          <a:prstGeom prst="rect">
            <a:avLst/>
          </a:prstGeom>
          <a:solidFill>
            <a:srgbClr val="1B2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0" y="265176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2743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Syracuse Housing Safety Tracker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3154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karan.salunkhe@syr.edu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3474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syracuse.gov/api-office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Syracuse University iSchool  ·  Phase 4  ·  April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137,663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646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Processed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48646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Lag (Days)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48646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04088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48646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Syracuse Housing Safety Tracker</dc:title>
  <dc:subject>Quantifying the Remediation Gap in Municipal Enforcement</dc:subject>
  <dc:creator>Karan C. Salunkhe</dc:creator>
  <cp:lastModifiedBy>Karan C. Salunkhe</cp:lastModifiedBy>
  <cp:revision>1</cp:revision>
  <dcterms:created xsi:type="dcterms:W3CDTF">2026-04-01T17:11:41Z</dcterms:created>
  <dcterms:modified xsi:type="dcterms:W3CDTF">2026-04-01T17:11:41Z</dcterms:modified>
</cp:coreProperties>
</file>